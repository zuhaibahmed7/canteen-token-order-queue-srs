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280" y="4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041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23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00C896">
              <a:alpha val="15000"/>
            </a:srgbClr>
          </a:solidFill>
          <a:ln w="12700">
            <a:solidFill>
              <a:srgbClr val="00C89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1A6EBD">
              <a:alpha val="20000"/>
            </a:srgbClr>
          </a:solidFill>
          <a:ln w="12700">
            <a:solidFill>
              <a:srgbClr val="1A6EBD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4114800"/>
            <a:ext cx="3657600" cy="1828800"/>
          </a:xfrm>
          <a:prstGeom prst="rect">
            <a:avLst/>
          </a:prstGeom>
          <a:solidFill>
            <a:srgbClr val="00C896">
              <a:alpha val="12000"/>
            </a:srgbClr>
          </a:solidFill>
          <a:ln w="12700">
            <a:solidFill>
              <a:srgbClr val="00C896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2560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9601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CANTEEN TOKEN &amp;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171907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QUEUE SYSTEM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58368" y="26517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Digitizing the campus canteen — one token at a time.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5303520" cy="14173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C896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31012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 Project Report  ·  Department of Computer Science
Faculty of Science and Information Technology  ·  Sukkur IBA University
Submitted to: Sir Babar Sheikh  ·  April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3246120"/>
            <a:ext cx="2743200" cy="1417320"/>
          </a:xfrm>
          <a:prstGeom prst="rect">
            <a:avLst/>
          </a:prstGeom>
          <a:solidFill>
            <a:srgbClr val="00C896">
              <a:alpha val="15000"/>
            </a:srgbClr>
          </a:solidFill>
          <a:ln w="12700">
            <a:solidFill>
              <a:srgbClr val="00C896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33101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896"/>
                </a:solidFill>
              </a:rPr>
              <a:t>TEAM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26480" y="35661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Anees Ahmed (053-24-0009)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Zohaib Ahmed (053-24-0012)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Ghulam Mujtaba (053-24-0023)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Baseer (053-24-0004)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896"/>
                </a:solidFill>
              </a:rPr>
              <a:t>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91440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80160"/>
            <a:ext cx="26060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260604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392" y="1389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Time Waste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9768" y="1783080"/>
            <a:ext cx="2404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Long physical queues during peak hours waste student and staff time</a:t>
            </a:r>
          </a:p>
        </p:txBody>
      </p:sp>
      <p:sp>
        <p:nvSpPr>
          <p:cNvPr id="11" name="Shape 8"/>
          <p:cNvSpPr/>
          <p:nvPr/>
        </p:nvSpPr>
        <p:spPr>
          <a:xfrm>
            <a:off x="3154680" y="1280160"/>
            <a:ext cx="26060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1280160"/>
            <a:ext cx="26060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4173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85032" y="1389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Miscommunication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264408" y="1783080"/>
            <a:ext cx="2404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Verbal orders cause wrong food to get prepared — no written record</a:t>
            </a:r>
          </a:p>
        </p:txBody>
      </p:sp>
      <p:sp>
        <p:nvSpPr>
          <p:cNvPr id="16" name="Shape 12"/>
          <p:cNvSpPr/>
          <p:nvPr/>
        </p:nvSpPr>
        <p:spPr>
          <a:xfrm>
            <a:off x="5989320" y="1280160"/>
            <a:ext cx="26060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89320" y="1280160"/>
            <a:ext cx="26060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4173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19672" y="1389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No Tracking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099048" y="1783080"/>
            <a:ext cx="2404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Customers have no way to track orders without standing at the counter</a:t>
            </a:r>
          </a:p>
        </p:txBody>
      </p:sp>
      <p:sp>
        <p:nvSpPr>
          <p:cNvPr id="21" name="Shape 16"/>
          <p:cNvSpPr/>
          <p:nvPr/>
        </p:nvSpPr>
        <p:spPr>
          <a:xfrm>
            <a:off x="320040" y="2834640"/>
            <a:ext cx="26060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0040" y="2834640"/>
            <a:ext cx="2606040" cy="45720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97180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50392" y="29443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Staff Struggle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29768" y="3337560"/>
            <a:ext cx="2404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Canteen staff lack a structured system to manage multiple orders</a:t>
            </a:r>
          </a:p>
        </p:txBody>
      </p:sp>
      <p:sp>
        <p:nvSpPr>
          <p:cNvPr id="26" name="Shape 20"/>
          <p:cNvSpPr/>
          <p:nvPr/>
        </p:nvSpPr>
        <p:spPr>
          <a:xfrm>
            <a:off x="3154680" y="2834640"/>
            <a:ext cx="26060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154680" y="2834640"/>
            <a:ext cx="2606040" cy="45720"/>
          </a:xfrm>
          <a:prstGeom prst="rect">
            <a:avLst/>
          </a:prstGeom>
          <a:solidFill>
            <a:srgbClr val="009E75"/>
          </a:solidFill>
          <a:ln w="12700">
            <a:solidFill>
              <a:srgbClr val="009E75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297180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85032" y="29443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No Analytics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264408" y="3337560"/>
            <a:ext cx="2404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Admin cannot analyse demand or manage the menu — zero order records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1" y="4053707"/>
            <a:ext cx="9144000" cy="1353312"/>
            <a:chOff x="1" y="4410323"/>
            <a:chExt cx="9144000" cy="1353312"/>
          </a:xfrm>
        </p:grpSpPr>
        <p:sp>
          <p:nvSpPr>
            <p:cNvPr id="31" name="Shape 24"/>
            <p:cNvSpPr/>
            <p:nvPr/>
          </p:nvSpPr>
          <p:spPr>
            <a:xfrm>
              <a:off x="1" y="4626864"/>
              <a:ext cx="9144000" cy="873252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2" name="Text 25"/>
            <p:cNvSpPr/>
            <p:nvPr/>
          </p:nvSpPr>
          <p:spPr>
            <a:xfrm>
              <a:off x="1384852" y="4410323"/>
              <a:ext cx="5307496" cy="1353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i="1" dirty="0">
                  <a:solidFill>
                    <a:srgbClr val="00C896"/>
                  </a:solidFill>
                </a:rPr>
                <a:t>"We replaced the </a:t>
              </a:r>
              <a:r>
                <a:rPr lang="en-US" sz="1400" b="1" i="1" dirty="0" smtClean="0">
                  <a:solidFill>
                    <a:srgbClr val="00C896"/>
                  </a:solidFill>
                </a:rPr>
                <a:t>chaos with </a:t>
              </a:r>
              <a:r>
                <a:rPr lang="en-US" sz="1400" b="1" i="1" dirty="0">
                  <a:solidFill>
                    <a:srgbClr val="00C896"/>
                  </a:solidFill>
                </a:rPr>
                <a:t>a token."</a:t>
              </a:r>
              <a:endParaRPr lang="en-US" sz="1400" dirty="0"/>
            </a:p>
          </p:txBody>
        </p:sp>
      </p:grpSp>
      <p:sp>
        <p:nvSpPr>
          <p:cNvPr id="33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896"/>
                </a:solidFill>
              </a:rPr>
              <a:t>REQUIREMENTS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&amp; Scope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91440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8016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2606040" cy="457200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4416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325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Customer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15544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8F0"/>
                </a:solidFill>
              </a:rPr>
              <a:t>Student / Staff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29768" y="182880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/>
              <a:t>Browses menu, places orders, tracks status via token</a:t>
            </a:r>
          </a:p>
        </p:txBody>
      </p:sp>
      <p:sp>
        <p:nvSpPr>
          <p:cNvPr id="12" name="Shape 9"/>
          <p:cNvSpPr/>
          <p:nvPr/>
        </p:nvSpPr>
        <p:spPr>
          <a:xfrm>
            <a:off x="3154680" y="128016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280160"/>
            <a:ext cx="2606040" cy="457200"/>
          </a:xfrm>
          <a:prstGeom prst="rect">
            <a:avLst/>
          </a:prstGeom>
          <a:solidFill>
            <a:srgbClr val="009E75"/>
          </a:solidFill>
          <a:ln w="12700">
            <a:solidFill>
              <a:srgbClr val="009E75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34416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03320" y="1325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Canteen Staff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264408" y="182880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/>
              <a:t>Views order queue, updates status at each preparation stage</a:t>
            </a:r>
          </a:p>
        </p:txBody>
      </p:sp>
      <p:sp>
        <p:nvSpPr>
          <p:cNvPr id="17" name="Shape 13"/>
          <p:cNvSpPr/>
          <p:nvPr/>
        </p:nvSpPr>
        <p:spPr>
          <a:xfrm>
            <a:off x="5989320" y="128016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89320" y="1280160"/>
            <a:ext cx="26060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344168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37960" y="1325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Admin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099048" y="182880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/>
              <a:t>Manages menu items, views daily order reports and dashboard</a:t>
            </a:r>
          </a:p>
        </p:txBody>
      </p:sp>
      <p:sp>
        <p:nvSpPr>
          <p:cNvPr id="22" name="Shape 17"/>
          <p:cNvSpPr/>
          <p:nvPr/>
        </p:nvSpPr>
        <p:spPr>
          <a:xfrm>
            <a:off x="320040" y="2971800"/>
            <a:ext cx="8503920" cy="347472"/>
          </a:xfrm>
          <a:prstGeom prst="rect">
            <a:avLst/>
          </a:prstGeom>
          <a:solidFill>
            <a:srgbClr val="00C896">
              <a:alpha val="15000"/>
            </a:srgbClr>
          </a:solidFill>
          <a:ln w="12700">
            <a:solidFill>
              <a:srgbClr val="00C896">
                <a:alpha val="40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026664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3232" y="298094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0040" y="3429000"/>
            <a:ext cx="4297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" y="3429000"/>
            <a:ext cx="429768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29768" y="34381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IN SCOPE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429768" y="374904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Digital menu browsing &amp; order placement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Automatic token generation (daily reset)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FIFO queue management &amp; position tracking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Real-time order status tracking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Admin control panel for menu &amp; reports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892040" y="342900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892040" y="3429000"/>
            <a:ext cx="393192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001768" y="34381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OUT OF SCOPE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5001768" y="374904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Online payment integration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Delivery to classrooms or offices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Inventory / stock management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896"/>
                </a:solidFill>
              </a:rPr>
              <a:t>REQUIREMENTS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91440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2651760" cy="365760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31673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12984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Authentication &amp; Roles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1480" y="1700784"/>
            <a:ext cx="24871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FR-01: Register with university ID, name &amp; password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FR-03: Separate roles — Customer, Staff &amp; Admin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54680" y="1261872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1261872"/>
            <a:ext cx="265176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31673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84448" y="12984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Menu Management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246120" y="1700784"/>
            <a:ext cx="24871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FR-04: Display categorized menu with name, price, description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FR-05: Admin can add, edit &amp; remove menu items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989320" y="1261872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89320" y="1261872"/>
            <a:ext cx="265176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8" y="131673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19088" y="12984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Order Placement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080760" y="1700784"/>
            <a:ext cx="24871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FR-07: Customer selects one or more items from the menu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FR-09: Confirm order → automatically added to the queue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20040" y="3136392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0040" y="3136392"/>
            <a:ext cx="2651760" cy="365760"/>
          </a:xfrm>
          <a:prstGeom prst="rect">
            <a:avLst/>
          </a:prstGeom>
          <a:solidFill>
            <a:srgbClr val="009E75"/>
          </a:solidFill>
          <a:ln w="12700">
            <a:solidFill>
              <a:srgbClr val="009E75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191256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9808" y="31729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Token Generation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11480" y="3575304"/>
            <a:ext cx="24871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FR-10: Unique sequential token per confirmed order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FR-12: Token numbers reset to 1 each operating day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154680" y="3136392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154680" y="3136392"/>
            <a:ext cx="265176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4408" y="3191256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584448" y="31729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Queue &amp; Status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3246120" y="3575304"/>
            <a:ext cx="24871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FR-13: All orders managed in FIFO order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FR-16: Four statuses: Pending → Preparing → Ready → Collected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5989320" y="3136392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5989320" y="3136392"/>
            <a:ext cx="26517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9048" y="3191256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419088" y="31729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Notifications &amp; Reports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6080760" y="3575304"/>
            <a:ext cx="24871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FR-19: Customer notified on-screen when order status → Ready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FR-25: Admin dashboard: total, pending &amp; completed counts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896"/>
                </a:solidFill>
              </a:rPr>
              <a:t>REQUIREMENTS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91440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1572768" cy="35204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C89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1572768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4173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93192" y="199339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96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93192" y="233172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/>
              <a:t>&lt; 3s page load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3192" y="2724912"/>
            <a:ext cx="14264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/>
              <a:t>Supports 100 concurrent users without degradation</a:t>
            </a:r>
          </a:p>
        </p:txBody>
      </p:sp>
      <p:sp>
        <p:nvSpPr>
          <p:cNvPr id="12" name="Shape 9"/>
          <p:cNvSpPr/>
          <p:nvPr/>
        </p:nvSpPr>
        <p:spPr>
          <a:xfrm>
            <a:off x="2039112" y="1261872"/>
            <a:ext cx="1572768" cy="35204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039112" y="1261872"/>
            <a:ext cx="157276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14173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12264" y="199339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Security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112264" y="233172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/>
              <a:t>Hashed passwords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112264" y="2724912"/>
            <a:ext cx="14264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/>
              <a:t>Session-based auth + role-based access control (RBAC)</a:t>
            </a:r>
          </a:p>
        </p:txBody>
      </p:sp>
      <p:sp>
        <p:nvSpPr>
          <p:cNvPr id="18" name="Shape 14"/>
          <p:cNvSpPr/>
          <p:nvPr/>
        </p:nvSpPr>
        <p:spPr>
          <a:xfrm>
            <a:off x="3758184" y="1261872"/>
            <a:ext cx="1572768" cy="35204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1A6EBD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758184" y="1261872"/>
            <a:ext cx="1572768" cy="64008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141732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831336" y="199339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6EBD"/>
                </a:solidFill>
              </a:rPr>
              <a:t>Usability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831336" y="233172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/>
              <a:t>Responsive design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831336" y="2724912"/>
            <a:ext cx="14264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/>
              <a:t>Works on mobile &amp; desktop — no training required</a:t>
            </a:r>
          </a:p>
        </p:txBody>
      </p:sp>
      <p:sp>
        <p:nvSpPr>
          <p:cNvPr id="24" name="Shape 19"/>
          <p:cNvSpPr/>
          <p:nvPr/>
        </p:nvSpPr>
        <p:spPr>
          <a:xfrm>
            <a:off x="5477256" y="1261872"/>
            <a:ext cx="1572768" cy="35204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477256" y="1261872"/>
            <a:ext cx="157276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141732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50408" y="199339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</a:rPr>
              <a:t>Reliability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550408" y="233172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/>
              <a:t>99% uptime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550408" y="2724912"/>
            <a:ext cx="14264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/>
              <a:t>Guaranteed during all canteen operating hours</a:t>
            </a:r>
          </a:p>
        </p:txBody>
      </p:sp>
      <p:sp>
        <p:nvSpPr>
          <p:cNvPr id="30" name="Shape 24"/>
          <p:cNvSpPr/>
          <p:nvPr/>
        </p:nvSpPr>
        <p:spPr>
          <a:xfrm>
            <a:off x="7196328" y="1261872"/>
            <a:ext cx="1572768" cy="35204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196328" y="1261872"/>
            <a:ext cx="157276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4112" y="1417320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269480" y="199339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Scalability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7269480" y="233172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/>
              <a:t>Modular architecture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7269480" y="2724912"/>
            <a:ext cx="14264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/>
              <a:t>Add counters or locations with zero restructuring</a:t>
            </a:r>
          </a:p>
        </p:txBody>
      </p:sp>
      <p:sp>
        <p:nvSpPr>
          <p:cNvPr id="36" name="Shape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896"/>
                </a:solidFill>
              </a:rPr>
              <a:t>REQUIREMENTS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91440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801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64008" cy="1737360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80160"/>
            <a:ext cx="4114800" cy="347472"/>
          </a:xfrm>
          <a:prstGeom prst="rect">
            <a:avLst/>
          </a:prstGeom>
          <a:solidFill>
            <a:srgbClr val="1A6EBD">
              <a:alpha val="10000"/>
            </a:srgbClr>
          </a:solidFill>
          <a:ln w="12700">
            <a:solidFill>
              <a:srgbClr val="1A6EBD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30759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EBD"/>
                </a:solidFill>
              </a:rPr>
              <a:t>Actor: Customer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" y="1673352"/>
            <a:ext cx="38587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Browse &amp; search menu items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Place and confirm order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Receive token number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Track order status in real-time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Cancel a pending order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2801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280160"/>
            <a:ext cx="64008" cy="1737360"/>
          </a:xfrm>
          <a:prstGeom prst="rect">
            <a:avLst/>
          </a:prstGeom>
          <a:solidFill>
            <a:srgbClr val="009E75"/>
          </a:solidFill>
          <a:ln w="12700">
            <a:solidFill>
              <a:srgbClr val="009E7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280160"/>
            <a:ext cx="4114800" cy="347472"/>
          </a:xfrm>
          <a:prstGeom prst="rect">
            <a:avLst/>
          </a:prstGeom>
          <a:solidFill>
            <a:srgbClr val="009E75">
              <a:alpha val="10000"/>
            </a:srgbClr>
          </a:solidFill>
          <a:ln w="12700">
            <a:solidFill>
              <a:srgbClr val="009E75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30759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E75"/>
                </a:solidFill>
              </a:rPr>
              <a:t>Actor: Canteen Staff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73752" y="1673352"/>
            <a:ext cx="38587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View live order queue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Change order status (Preparing / Ready / Collected)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Manage multiple orders simultaneously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1546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154680"/>
            <a:ext cx="64008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154680"/>
            <a:ext cx="4114800" cy="347472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1821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Actor: Admin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" y="3547872"/>
            <a:ext cx="38587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Add / Edit / Remove menu items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View daily order report &amp; dashboard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Monitor pending and completed orders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15468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3154680"/>
            <a:ext cx="4114800" cy="347472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31821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Actor: System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73752" y="3547872"/>
            <a:ext cx="38587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Auto-generate sequential token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Reset token counter daily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Send on-screen notification on status change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Maintain FIFO queue order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896"/>
                </a:solidFill>
              </a:rPr>
              <a:t>REQUIREMENTS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91440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Note: Replace with your actual UML use case diagram image in the final submission.</a:t>
            </a:r>
            <a:endParaRPr lang="en-US" sz="800" dirty="0"/>
          </a:p>
        </p:txBody>
      </p:sp>
      <p:sp>
        <p:nvSpPr>
          <p:cNvPr id="42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43" name="Image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17236" y="972152"/>
            <a:ext cx="3909528" cy="39023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896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Style &amp; Justification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91440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80160"/>
            <a:ext cx="5029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64008" cy="960120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3502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A6EBD"/>
                </a:solidFill>
              </a:rPr>
              <a:t>Tier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1572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</a:rPr>
              <a:t>Presentation Layer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5488" y="18470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EBD"/>
                </a:solidFill>
              </a:rPr>
              <a:t>HTML · CSS · JavaScript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138988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/>
              <a:t>Web pages the user sees and interacts with</a:t>
            </a:r>
          </a:p>
        </p:txBody>
      </p:sp>
      <p:sp>
        <p:nvSpPr>
          <p:cNvPr id="12" name="Shape 10"/>
          <p:cNvSpPr/>
          <p:nvPr/>
        </p:nvSpPr>
        <p:spPr>
          <a:xfrm>
            <a:off x="731520" y="2240280"/>
            <a:ext cx="0" cy="9144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359152"/>
            <a:ext cx="5029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59152"/>
            <a:ext cx="64008" cy="960120"/>
          </a:xfrm>
          <a:prstGeom prst="rect">
            <a:avLst/>
          </a:prstGeom>
          <a:solidFill>
            <a:srgbClr val="009E75"/>
          </a:solidFill>
          <a:ln w="12700">
            <a:solidFill>
              <a:srgbClr val="00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4140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9E75"/>
                </a:solidFill>
              </a:rPr>
              <a:t>Tier 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2651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</a:rPr>
              <a:t>Business Logic Layer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5488" y="2926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75"/>
                </a:solidFill>
              </a:rPr>
              <a:t>PHP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06040" y="246888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Token generation, queue management, order processing</a:t>
            </a:r>
          </a:p>
        </p:txBody>
      </p:sp>
      <p:sp>
        <p:nvSpPr>
          <p:cNvPr id="19" name="Shape 17"/>
          <p:cNvSpPr/>
          <p:nvPr/>
        </p:nvSpPr>
        <p:spPr>
          <a:xfrm>
            <a:off x="731520" y="3319272"/>
            <a:ext cx="0" cy="9144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438144"/>
            <a:ext cx="5029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438144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4930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C3AED"/>
                </a:solidFill>
              </a:rPr>
              <a:t>Tier 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" y="3730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</a:rPr>
              <a:t>Data Layer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5488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MySQL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06040" y="3547872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Stores users, orders, tokens, menu items</a:t>
            </a:r>
          </a:p>
        </p:txBody>
      </p:sp>
      <p:sp>
        <p:nvSpPr>
          <p:cNvPr id="26" name="Shape 24"/>
          <p:cNvSpPr/>
          <p:nvPr/>
        </p:nvSpPr>
        <p:spPr>
          <a:xfrm>
            <a:off x="5577840" y="1280160"/>
            <a:ext cx="3246120" cy="32369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669280" y="13533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C896"/>
                </a:solidFill>
              </a:rPr>
              <a:t>Why Three-Tier?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669280" y="1737360"/>
            <a:ext cx="3063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Clear separation of concerns — one responsibility per layer</a:t>
            </a: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UI </a:t>
            </a:r>
            <a:r>
              <a:rPr lang="en-US" sz="1400" dirty="0">
                <a:solidFill>
                  <a:schemeClr val="bg1"/>
                </a:solidFill>
              </a:rPr>
              <a:t>changes</a:t>
            </a:r>
            <a:r>
              <a:rPr lang="en-US" sz="1100" dirty="0">
                <a:solidFill>
                  <a:schemeClr val="bg1"/>
                </a:solidFill>
              </a:rPr>
              <a:t> do not affect business logic or data</a:t>
            </a: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Simple and well-suited for a small-scale web system</a:t>
            </a: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Each layer independently maintainable and testable</a:t>
            </a: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Supports future scalability — add new canteen locations</a:t>
            </a:r>
          </a:p>
        </p:txBody>
      </p:sp>
      <p:sp>
        <p:nvSpPr>
          <p:cNvPr id="29" name="Shape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896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Components &amp; Interaction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91440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80160"/>
            <a:ext cx="1965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1965960" cy="411480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35331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1325880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Auth Module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11480" y="1755648"/>
            <a:ext cx="18013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Login, session management, role-based access</a:t>
            </a:r>
          </a:p>
        </p:txBody>
      </p:sp>
      <p:sp>
        <p:nvSpPr>
          <p:cNvPr id="11" name="Shape 8"/>
          <p:cNvSpPr/>
          <p:nvPr/>
        </p:nvSpPr>
        <p:spPr>
          <a:xfrm>
            <a:off x="2468880" y="1280160"/>
            <a:ext cx="1965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1280160"/>
            <a:ext cx="19659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608" y="135331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07792" y="1325880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Menu Module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560320" y="1755648"/>
            <a:ext cx="18013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Display items; admin can add / edit / remove</a:t>
            </a:r>
          </a:p>
        </p:txBody>
      </p:sp>
      <p:sp>
        <p:nvSpPr>
          <p:cNvPr id="16" name="Shape 12"/>
          <p:cNvSpPr/>
          <p:nvPr/>
        </p:nvSpPr>
        <p:spPr>
          <a:xfrm>
            <a:off x="4617720" y="1280160"/>
            <a:ext cx="1965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17720" y="1280160"/>
            <a:ext cx="19659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135331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56632" y="1325880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Order Management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709160" y="1755648"/>
            <a:ext cx="18013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Core module: placement, confirmation, status, cancellation</a:t>
            </a:r>
          </a:p>
        </p:txBody>
      </p:sp>
      <p:sp>
        <p:nvSpPr>
          <p:cNvPr id="21" name="Shape 16"/>
          <p:cNvSpPr/>
          <p:nvPr/>
        </p:nvSpPr>
        <p:spPr>
          <a:xfrm>
            <a:off x="6766560" y="1280160"/>
            <a:ext cx="1965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766560" y="1280160"/>
            <a:ext cx="1965960" cy="411480"/>
          </a:xfrm>
          <a:prstGeom prst="rect">
            <a:avLst/>
          </a:prstGeom>
          <a:solidFill>
            <a:srgbClr val="009E75"/>
          </a:solidFill>
          <a:ln w="12700">
            <a:solidFill>
              <a:srgbClr val="009E75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6288" y="135331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05472" y="1325880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Token Generation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6858000" y="1755648"/>
            <a:ext cx="18013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Unique sequential token per order; daily reset to 1</a:t>
            </a:r>
          </a:p>
        </p:txBody>
      </p:sp>
      <p:sp>
        <p:nvSpPr>
          <p:cNvPr id="26" name="Shape 20"/>
          <p:cNvSpPr/>
          <p:nvPr/>
        </p:nvSpPr>
        <p:spPr>
          <a:xfrm>
            <a:off x="320040" y="3108960"/>
            <a:ext cx="1965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" y="3108960"/>
            <a:ext cx="196596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" y="3182112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8952" y="3154680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Queue Management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411480" y="3584448"/>
            <a:ext cx="18013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FIFO queue; auto-updates position as orders complete</a:t>
            </a:r>
          </a:p>
        </p:txBody>
      </p:sp>
      <p:sp>
        <p:nvSpPr>
          <p:cNvPr id="31" name="Shape 24"/>
          <p:cNvSpPr/>
          <p:nvPr/>
        </p:nvSpPr>
        <p:spPr>
          <a:xfrm>
            <a:off x="2468880" y="3108960"/>
            <a:ext cx="1965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2468880" y="3108960"/>
            <a:ext cx="196596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8608" y="3182112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907792" y="3154680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Notification Module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2560320" y="3584448"/>
            <a:ext cx="18013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Triggers on status change → alerts customer on-screen</a:t>
            </a:r>
          </a:p>
        </p:txBody>
      </p:sp>
      <p:sp>
        <p:nvSpPr>
          <p:cNvPr id="36" name="Shape 28"/>
          <p:cNvSpPr/>
          <p:nvPr/>
        </p:nvSpPr>
        <p:spPr>
          <a:xfrm>
            <a:off x="4617720" y="3108960"/>
            <a:ext cx="1965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617720" y="3108960"/>
            <a:ext cx="19659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27448" y="3182112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056632" y="3154680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Admin Dashboard</a:t>
            </a:r>
            <a:endParaRPr lang="en-US" sz="950" dirty="0"/>
          </a:p>
        </p:txBody>
      </p:sp>
      <p:sp>
        <p:nvSpPr>
          <p:cNvPr id="40" name="Text 31"/>
          <p:cNvSpPr/>
          <p:nvPr/>
        </p:nvSpPr>
        <p:spPr>
          <a:xfrm>
            <a:off x="4709160" y="3584448"/>
            <a:ext cx="18013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Daily totals, pending counts, menu control, report generation</a:t>
            </a:r>
          </a:p>
        </p:txBody>
      </p:sp>
      <p:sp>
        <p:nvSpPr>
          <p:cNvPr id="41" name="Shape 32"/>
          <p:cNvSpPr/>
          <p:nvPr/>
        </p:nvSpPr>
        <p:spPr>
          <a:xfrm>
            <a:off x="320040" y="4599432"/>
            <a:ext cx="850392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912" y="4636008"/>
            <a:ext cx="210312" cy="21031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13232" y="4608576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96"/>
                </a:solidFill>
              </a:rPr>
              <a:t>Data Layer (MySQL) — all modules communicate here via PHP backend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896"/>
                </a:solidFill>
              </a:rPr>
              <a:t>UML DIAGRAMS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91440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5669280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34440"/>
            <a:ext cx="56692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2E8F0"/>
                </a:solidFill>
              </a:rPr>
              <a:t>[ Insert Class Diagram Image Here 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261872"/>
            <a:ext cx="2651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261872"/>
            <a:ext cx="54864" cy="621792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2984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User (parent)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1536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→ Customer, CanteenStaff, Admin — Inheritance hierarchy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2651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965960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002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Order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Core entity — Links to Token, MenuItem, Notification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72200" y="2670048"/>
            <a:ext cx="2651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2670048"/>
            <a:ext cx="54864" cy="621792"/>
          </a:xfrm>
          <a:prstGeom prst="rect">
            <a:avLst/>
          </a:prstGeom>
          <a:solidFill>
            <a:srgbClr val="009E75"/>
          </a:solidFill>
          <a:ln w="12700">
            <a:solidFill>
              <a:srgbClr val="00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7066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Token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2944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Unique per order — Resets daily to 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72200" y="3374136"/>
            <a:ext cx="2651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3374136"/>
            <a:ext cx="54864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4107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MenuItem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36484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Managed by Admin — name, price, category, status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72200" y="4078224"/>
            <a:ext cx="2651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4078224"/>
            <a:ext cx="54864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41148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Notification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43525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on change — Fires when status → Ready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526" y="1234440"/>
            <a:ext cx="359002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896"/>
                </a:solidFill>
              </a:rPr>
              <a:t>UML DIAGRAMS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Place Order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91440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5669280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34440"/>
            <a:ext cx="56692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2E8F0"/>
                </a:solidFill>
              </a:rPr>
              <a:t>[ Insert Sequence Diagram Image Here 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72200" y="12618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Flow Walkthrough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700784"/>
            <a:ext cx="256032" cy="25603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700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92240" y="168249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Customer selects items from menu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0216" y="1965960"/>
            <a:ext cx="0" cy="18288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2176272"/>
            <a:ext cx="256032" cy="25603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215798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Customer clicks Confirm Order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0216" y="2441448"/>
            <a:ext cx="0" cy="18288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651760"/>
            <a:ext cx="256032" cy="25603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0" y="2633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System validates and generates token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0216" y="2916936"/>
            <a:ext cx="0" cy="18288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127248"/>
            <a:ext cx="256032" cy="25603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3127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92240" y="3108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Order added to FIFO queue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0216" y="3392424"/>
            <a:ext cx="0" cy="18288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3602736"/>
            <a:ext cx="256032" cy="25603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602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92240" y="3584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Staff view updated with new order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0216" y="3867912"/>
            <a:ext cx="0" cy="18288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4078224"/>
            <a:ext cx="256032" cy="25603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4078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92240" y="405993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Staff marks order status as Ready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0216" y="4343400"/>
            <a:ext cx="0" cy="18288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4553712"/>
            <a:ext cx="256032" cy="25603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4553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92240" y="453542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Customer notified on-screen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75" y="1234439"/>
            <a:ext cx="5749422" cy="36118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896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91440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" y="1325880"/>
            <a:ext cx="2377440" cy="22860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1A6EBD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2377440" cy="64008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15087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5216" y="2084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6EBD"/>
                </a:solidFill>
              </a:rPr>
              <a:t>Client Node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85216" y="23957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C896"/>
                </a:solidFill>
              </a:rPr>
              <a:t>[ Browser ]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5216" y="267004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Web Browser</a:t>
            </a:r>
          </a:p>
          <a:p>
            <a:pPr marL="0" indent="0" algn="ctr">
              <a:buNone/>
            </a:pPr>
            <a:r>
              <a:rPr lang="en-US" sz="1200" dirty="0"/>
              <a:t>(Any device — mobile or desktop)</a:t>
            </a:r>
          </a:p>
        </p:txBody>
      </p:sp>
      <p:sp>
        <p:nvSpPr>
          <p:cNvPr id="12" name="Shape 9"/>
          <p:cNvSpPr/>
          <p:nvPr/>
        </p:nvSpPr>
        <p:spPr>
          <a:xfrm>
            <a:off x="2834640" y="2468880"/>
            <a:ext cx="365760" cy="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52928" y="2359152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96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00400" y="1325880"/>
            <a:ext cx="2377440" cy="22860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9E75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325880"/>
            <a:ext cx="2377440" cy="64008"/>
          </a:xfrm>
          <a:prstGeom prst="rect">
            <a:avLst/>
          </a:prstGeom>
          <a:solidFill>
            <a:srgbClr val="009E75"/>
          </a:solidFill>
          <a:ln w="12700">
            <a:solidFill>
              <a:srgbClr val="009E75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096" y="150876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28416" y="2084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E75"/>
                </a:solidFill>
              </a:rPr>
              <a:t>Server Node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328416" y="23957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C896"/>
                </a:solidFill>
              </a:rPr>
              <a:t>[ Server ]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328416" y="267004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Apache + PHP</a:t>
            </a:r>
          </a:p>
          <a:p>
            <a:pPr marL="0" indent="0" algn="ctr">
              <a:buNone/>
            </a:pPr>
            <a:r>
              <a:rPr lang="en-US" sz="1200" dirty="0"/>
              <a:t>via XAMPP</a:t>
            </a:r>
          </a:p>
        </p:txBody>
      </p:sp>
      <p:sp>
        <p:nvSpPr>
          <p:cNvPr id="20" name="Shape 16"/>
          <p:cNvSpPr/>
          <p:nvPr/>
        </p:nvSpPr>
        <p:spPr>
          <a:xfrm>
            <a:off x="5577840" y="2468880"/>
            <a:ext cx="365760" cy="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596128" y="2359152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96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5980176" y="1325880"/>
            <a:ext cx="2377440" cy="22860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943600" y="1325880"/>
            <a:ext cx="23774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50876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035040" y="2084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</a:rPr>
              <a:t>Database Node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035040" y="23957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C896"/>
                </a:solidFill>
              </a:rPr>
              <a:t>[ DB ]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071616" y="267004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MySQL</a:t>
            </a:r>
          </a:p>
          <a:p>
            <a:pPr marL="0" indent="0" algn="ctr">
              <a:buNone/>
            </a:pPr>
            <a:r>
              <a:rPr lang="en-US" sz="1200" dirty="0"/>
              <a:t>managed via phpMyAdmin</a:t>
            </a:r>
          </a:p>
        </p:txBody>
      </p:sp>
      <p:sp>
        <p:nvSpPr>
          <p:cNvPr id="41" name="Shape 3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896"/>
                </a:solidFill>
              </a:rPr>
              <a:t>UML DIAGRAMS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91440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80160"/>
            <a:ext cx="2697480" cy="3520440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1A6EBD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2697480" cy="502920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29844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Singleton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" y="1581912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0F0FF"/>
                </a:solidFill>
              </a:rPr>
              <a:t>DatabaseManager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1920240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A6EBD"/>
                </a:solidFill>
              </a:rPr>
              <a:t>WHY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9768" y="2148840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/>
              <a:t>Prevents multiple DB connections; saves memory and ensures consistency</a:t>
            </a:r>
          </a:p>
        </p:txBody>
      </p:sp>
      <p:sp>
        <p:nvSpPr>
          <p:cNvPr id="12" name="Text 10"/>
          <p:cNvSpPr/>
          <p:nvPr/>
        </p:nvSpPr>
        <p:spPr>
          <a:xfrm>
            <a:off x="429768" y="3127248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A6EBD"/>
                </a:solidFill>
              </a:rPr>
              <a:t>HOW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9768" y="3355848"/>
            <a:ext cx="2496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/>
              <a:t>Private static instance + getInstance() method ensures one shared connection throughout the app lifecycle</a:t>
            </a:r>
          </a:p>
        </p:txBody>
      </p:sp>
      <p:sp>
        <p:nvSpPr>
          <p:cNvPr id="14" name="Shape 12"/>
          <p:cNvSpPr/>
          <p:nvPr/>
        </p:nvSpPr>
        <p:spPr>
          <a:xfrm>
            <a:off x="3200400" y="1280160"/>
            <a:ext cx="2697480" cy="3520440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280160"/>
            <a:ext cx="26974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29844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Factory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10128" y="1581912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0F0FF"/>
                </a:solidFill>
              </a:rPr>
              <a:t>UserFactory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0128" y="1920240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</a:rPr>
              <a:t>WHY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10128" y="2148840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/>
              <a:t>Centralises user object creation logic — one place to manage all roles</a:t>
            </a:r>
          </a:p>
        </p:txBody>
      </p:sp>
      <p:sp>
        <p:nvSpPr>
          <p:cNvPr id="20" name="Text 18"/>
          <p:cNvSpPr/>
          <p:nvPr/>
        </p:nvSpPr>
        <p:spPr>
          <a:xfrm>
            <a:off x="3310128" y="3127248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</a:rPr>
              <a:t>HOW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10128" y="3355848"/>
            <a:ext cx="2496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/>
              <a:t>createUser(role) returns Customer, CanteenStaff, or Admin based on the role field in the database</a:t>
            </a:r>
          </a:p>
        </p:txBody>
      </p:sp>
      <p:sp>
        <p:nvSpPr>
          <p:cNvPr id="22" name="Shape 20"/>
          <p:cNvSpPr/>
          <p:nvPr/>
        </p:nvSpPr>
        <p:spPr>
          <a:xfrm>
            <a:off x="6080760" y="1280160"/>
            <a:ext cx="2697480" cy="3520440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00C896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0760" y="1280160"/>
            <a:ext cx="2697480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0488" y="129844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Observer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190488" y="1581912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0F0FF"/>
                </a:solidFill>
              </a:rPr>
              <a:t>Order → NotificationModule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90488" y="1920240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C896"/>
                </a:solidFill>
              </a:rPr>
              <a:t>WHY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90488" y="2148840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/>
              <a:t>Customers are auto-notified on status change without constant polling</a:t>
            </a:r>
          </a:p>
        </p:txBody>
      </p:sp>
      <p:sp>
        <p:nvSpPr>
          <p:cNvPr id="28" name="Text 26"/>
          <p:cNvSpPr/>
          <p:nvPr/>
        </p:nvSpPr>
        <p:spPr>
          <a:xfrm>
            <a:off x="6190488" y="3127248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C896"/>
                </a:solidFill>
              </a:rPr>
              <a:t>HOW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90488" y="3355848"/>
            <a:ext cx="2496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/>
              <a:t>Order (subject) calls notifyObservers() → NotificationModule (observer) fires the on-screen alert</a:t>
            </a:r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896"/>
                </a:solidFill>
              </a:rPr>
              <a:t>IMPLEMENTATION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Prototype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91440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1005840" cy="1170432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1848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35608" y="13533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</a:rPr>
              <a:t>Frontend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435608" y="160934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HTML · CSS · JavaScript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35608" y="1956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Responsive web pages for customer, staff, and admin interfaces</a:t>
            </a:r>
          </a:p>
        </p:txBody>
      </p:sp>
      <p:sp>
        <p:nvSpPr>
          <p:cNvPr id="12" name="Shape 9"/>
          <p:cNvSpPr/>
          <p:nvPr/>
        </p:nvSpPr>
        <p:spPr>
          <a:xfrm>
            <a:off x="4709160" y="1261872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261872"/>
            <a:ext cx="1005840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61848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24728" y="13533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</a:rPr>
              <a:t>Backend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824728" y="160934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PHP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824728" y="1956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Handles orders, token generation, queue logic, and form processing</a:t>
            </a:r>
          </a:p>
        </p:txBody>
      </p:sp>
      <p:sp>
        <p:nvSpPr>
          <p:cNvPr id="18" name="Shape 14"/>
          <p:cNvSpPr/>
          <p:nvPr/>
        </p:nvSpPr>
        <p:spPr>
          <a:xfrm>
            <a:off x="320040" y="2633472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2633472"/>
            <a:ext cx="10058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990088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35608" y="27249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</a:rPr>
              <a:t>Database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435608" y="298094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MySQL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435608" y="33284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Stores all data: users, orders, tokens, menu items, notifications</a:t>
            </a:r>
          </a:p>
        </p:txBody>
      </p:sp>
      <p:sp>
        <p:nvSpPr>
          <p:cNvPr id="24" name="Shape 19"/>
          <p:cNvSpPr/>
          <p:nvPr/>
        </p:nvSpPr>
        <p:spPr>
          <a:xfrm>
            <a:off x="4709160" y="2633472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09160" y="2633472"/>
            <a:ext cx="1005840" cy="1170432"/>
          </a:xfrm>
          <a:prstGeom prst="rect">
            <a:avLst/>
          </a:prstGeom>
          <a:solidFill>
            <a:srgbClr val="009E75"/>
          </a:solidFill>
          <a:ln w="12700">
            <a:solidFill>
              <a:srgbClr val="009E75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990088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824728" y="27249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</a:rPr>
              <a:t>Tools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824728" y="298094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XAMPP · phpMyAdmin · VS Code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824728" y="33284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Local server environment, database GUI, and code editor</a:t>
            </a:r>
          </a:p>
        </p:txBody>
      </p:sp>
      <p:sp>
        <p:nvSpPr>
          <p:cNvPr id="30" name="Shape 24"/>
          <p:cNvSpPr/>
          <p:nvPr/>
        </p:nvSpPr>
        <p:spPr>
          <a:xfrm>
            <a:off x="320040" y="4114800"/>
            <a:ext cx="41148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457200" y="4151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C896"/>
                </a:solidFill>
              </a:rPr>
              <a:t>PROTOTYPE COVERS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457200" y="43708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</a:rPr>
              <a:t>Role-based login · Menu browsing · Order confirmation · Token display · Queue management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4709160" y="4114800"/>
            <a:ext cx="4114800" cy="777240"/>
          </a:xfrm>
          <a:prstGeom prst="rect">
            <a:avLst/>
          </a:prstGeom>
          <a:solidFill>
            <a:srgbClr val="009E75"/>
          </a:solidFill>
          <a:ln w="12700">
            <a:solidFill>
              <a:srgbClr val="00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4846320" y="4151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ALSO INCLUDES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4846320" y="43708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Staff queue interface with status updates · Admin dashboard with daily counts &amp; menu control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896"/>
                </a:solidFill>
              </a:rPr>
              <a:t>IMPLEMENTATION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Structure &amp; Organization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91440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Folder structure mirrors the three-tier layered architecture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64008" cy="685800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636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6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/views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15636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Tier 1 — </a:t>
            </a: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Presentation</a:t>
            </a: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011680" y="185623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/>
              <a:t>All HTML and CSS files for customer, canteen staff, and admin interfaces</a:t>
            </a:r>
          </a:p>
        </p:txBody>
      </p:sp>
      <p:sp>
        <p:nvSpPr>
          <p:cNvPr id="12" name="Shape 10"/>
          <p:cNvSpPr/>
          <p:nvPr/>
        </p:nvSpPr>
        <p:spPr>
          <a:xfrm>
            <a:off x="320040" y="2313432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13432"/>
            <a:ext cx="64008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682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/controllers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11680" y="2368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Tier 2 — </a:t>
            </a: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Business Logic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2011680" y="266090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/>
              <a:t>PHP files handling requests: order logic, token generation, queue management</a:t>
            </a:r>
          </a:p>
        </p:txBody>
      </p:sp>
      <p:sp>
        <p:nvSpPr>
          <p:cNvPr id="17" name="Shape 15"/>
          <p:cNvSpPr/>
          <p:nvPr/>
        </p:nvSpPr>
        <p:spPr>
          <a:xfrm>
            <a:off x="320040" y="3118104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18104"/>
            <a:ext cx="64008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72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011680" y="31729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Entity</a:t>
            </a:r>
            <a:r>
              <a:rPr lang="en-US" sz="1400" b="1" dirty="0">
                <a:solidFill>
                  <a:srgbClr val="1E293B"/>
                </a:solidFill>
              </a:rPr>
              <a:t> </a:t>
            </a: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Classes</a:t>
            </a: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2011680" y="346557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/>
              <a:t>PHP classes: User, Order, MenuItem, Token, Notification</a:t>
            </a:r>
          </a:p>
        </p:txBody>
      </p:sp>
      <p:sp>
        <p:nvSpPr>
          <p:cNvPr id="22" name="Shape 20"/>
          <p:cNvSpPr/>
          <p:nvPr/>
        </p:nvSpPr>
        <p:spPr>
          <a:xfrm>
            <a:off x="320040" y="3922776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922776"/>
            <a:ext cx="64008" cy="685800"/>
          </a:xfrm>
          <a:prstGeom prst="rect">
            <a:avLst/>
          </a:prstGeom>
          <a:solidFill>
            <a:srgbClr val="009E75"/>
          </a:solidFill>
          <a:ln w="12700">
            <a:solidFill>
              <a:srgbClr val="009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977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/database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011680" y="3977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Tier 3 — </a:t>
            </a: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Data Layer</a:t>
            </a: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2011680" y="427024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/>
              <a:t>DB connection file and all SQL queries for CRUD operations</a:t>
            </a:r>
          </a:p>
        </p:txBody>
      </p:sp>
      <p:sp>
        <p:nvSpPr>
          <p:cNvPr id="27" name="Shape 25"/>
          <p:cNvSpPr/>
          <p:nvPr/>
        </p:nvSpPr>
        <p:spPr>
          <a:xfrm>
            <a:off x="320040" y="4754880"/>
            <a:ext cx="8503920" cy="201168"/>
          </a:xfrm>
          <a:prstGeom prst="rect">
            <a:avLst/>
          </a:prstGeom>
          <a:solidFill>
            <a:srgbClr val="00C896">
              <a:alpha val="12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9E75"/>
                </a:solidFill>
              </a:rPr>
              <a:t>Tip: Include a screenshot of your VS Code folder structure in the final build.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896"/>
                </a:solidFill>
              </a:rPr>
              <a:t>TESTING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 &amp;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91440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157276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1572768" cy="64008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5331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EBD"/>
                </a:solidFill>
              </a:rPr>
              <a:t>Unit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Each module tested independently (e.g. token generation resets daily)</a:t>
            </a:r>
            <a:endParaRPr lang="en-US" sz="900" b="1" dirty="0"/>
          </a:p>
        </p:txBody>
      </p:sp>
      <p:sp>
        <p:nvSpPr>
          <p:cNvPr id="10" name="Shape 8"/>
          <p:cNvSpPr/>
          <p:nvPr/>
        </p:nvSpPr>
        <p:spPr>
          <a:xfrm>
            <a:off x="2039112" y="1261872"/>
            <a:ext cx="157276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39112" y="1261872"/>
            <a:ext cx="157276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135331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Integration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30552" y="162763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Modules tested together (e.g. Order → Token → Queue)</a:t>
            </a:r>
            <a:endParaRPr lang="en-US" sz="900" b="1" dirty="0"/>
          </a:p>
        </p:txBody>
      </p:sp>
      <p:sp>
        <p:nvSpPr>
          <p:cNvPr id="14" name="Shape 12"/>
          <p:cNvSpPr/>
          <p:nvPr/>
        </p:nvSpPr>
        <p:spPr>
          <a:xfrm>
            <a:off x="3758184" y="1261872"/>
            <a:ext cx="157276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58184" y="1261872"/>
            <a:ext cx="157276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9624" y="135331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Functional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9624" y="162763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Each functional requirement verified against expected output</a:t>
            </a:r>
            <a:endParaRPr lang="en-US" sz="900" b="1" dirty="0"/>
          </a:p>
        </p:txBody>
      </p:sp>
      <p:sp>
        <p:nvSpPr>
          <p:cNvPr id="18" name="Shape 16"/>
          <p:cNvSpPr/>
          <p:nvPr/>
        </p:nvSpPr>
        <p:spPr>
          <a:xfrm>
            <a:off x="5477256" y="1261872"/>
            <a:ext cx="157276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77256" y="1261872"/>
            <a:ext cx="1572768" cy="64008"/>
          </a:xfrm>
          <a:prstGeom prst="rect">
            <a:avLst/>
          </a:prstGeom>
          <a:solidFill>
            <a:srgbClr val="009E75"/>
          </a:solidFill>
          <a:ln w="12700">
            <a:solidFill>
              <a:srgbClr val="009E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68696" y="135331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E75"/>
                </a:solidFill>
              </a:rPr>
              <a:t>UAT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68696" y="162763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Real-world scenarios from end-user perspective</a:t>
            </a:r>
            <a:endParaRPr lang="en-US" sz="900" b="1" dirty="0"/>
          </a:p>
        </p:txBody>
      </p:sp>
      <p:sp>
        <p:nvSpPr>
          <p:cNvPr id="22" name="Shape 20"/>
          <p:cNvSpPr/>
          <p:nvPr/>
        </p:nvSpPr>
        <p:spPr>
          <a:xfrm>
            <a:off x="7196328" y="1261872"/>
            <a:ext cx="157276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96328" y="1261872"/>
            <a:ext cx="1572768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87768" y="135331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Boundary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87768" y="162763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Edge cases: empty queue, cancelling a Preparing order, wrong credentials</a:t>
            </a:r>
            <a:endParaRPr lang="en-US" sz="900" b="1" dirty="0"/>
          </a:p>
        </p:txBody>
      </p:sp>
      <p:sp>
        <p:nvSpPr>
          <p:cNvPr id="26" name="Shape 24"/>
          <p:cNvSpPr/>
          <p:nvPr/>
        </p:nvSpPr>
        <p:spPr>
          <a:xfrm>
            <a:off x="320040" y="2240280"/>
            <a:ext cx="54864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" y="2240280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TC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68680" y="2240280"/>
            <a:ext cx="164592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" y="2240280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Module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14600" y="2240280"/>
            <a:ext cx="438912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9464" y="2240280"/>
            <a:ext cx="4315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Expected Outcome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03720" y="2240280"/>
            <a:ext cx="82296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58584" y="2240280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Status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2542032"/>
            <a:ext cx="5486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" y="254203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TC-01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68680" y="2542032"/>
            <a:ext cx="1645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3544" y="254203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Authentication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14600" y="2542032"/>
            <a:ext cx="4389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9464" y="2542032"/>
            <a:ext cx="4315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Valid login → redirected to dashboard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03720" y="2542032"/>
            <a:ext cx="822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58584" y="2542032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</a:rPr>
              <a:t>Pass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2862072"/>
            <a:ext cx="548640" cy="3200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" y="286207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TC-02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68680" y="2862072"/>
            <a:ext cx="1645920" cy="3200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3544" y="28620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Authentication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14600" y="2862072"/>
            <a:ext cx="4389120" cy="3200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9464" y="2862072"/>
            <a:ext cx="4315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Wrong password → error message shown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03720" y="2862072"/>
            <a:ext cx="822960" cy="3200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58584" y="2862072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Fail*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040" y="3182112"/>
            <a:ext cx="5486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4904" y="318211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TC-03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68680" y="3182112"/>
            <a:ext cx="1645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3544" y="318211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Order Placement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514600" y="3182112"/>
            <a:ext cx="4389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69464" y="3182112"/>
            <a:ext cx="4315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Items confirmed → order queued + token shown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903720" y="3182112"/>
            <a:ext cx="822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58584" y="3182112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</a:rPr>
              <a:t>Pass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0040" y="3502152"/>
            <a:ext cx="548640" cy="3200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4904" y="350215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TC-04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68680" y="3502152"/>
            <a:ext cx="1645920" cy="3200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23544" y="350215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Token Generation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514600" y="3502152"/>
            <a:ext cx="4389120" cy="3200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69464" y="3502152"/>
            <a:ext cx="4315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Unique sequential token generated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903720" y="3502152"/>
            <a:ext cx="822960" cy="3200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58584" y="3502152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</a:rPr>
              <a:t>Pass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20040" y="3822192"/>
            <a:ext cx="5486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4904" y="382219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TC-05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68680" y="3822192"/>
            <a:ext cx="1645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23544" y="382219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Cancellation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514600" y="3822192"/>
            <a:ext cx="4389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69464" y="3822192"/>
            <a:ext cx="4315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Pending order cancelled → removed from queue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903720" y="3822192"/>
            <a:ext cx="822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58584" y="3822192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</a:rPr>
              <a:t>Pass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20040" y="4142232"/>
            <a:ext cx="548640" cy="3200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74904" y="414223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TC-06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68680" y="4142232"/>
            <a:ext cx="1645920" cy="3200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23544" y="414223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Status Update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514600" y="4142232"/>
            <a:ext cx="4389120" cy="3200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569464" y="4142232"/>
            <a:ext cx="4315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Staff marks Ready → customer notified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903720" y="4142232"/>
            <a:ext cx="822960" cy="3200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958584" y="4142232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</a:rPr>
              <a:t>Pass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20040" y="4462272"/>
            <a:ext cx="5486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74904" y="446227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TC-07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868680" y="4462272"/>
            <a:ext cx="1645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23544" y="44622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Menu Management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514600" y="4462272"/>
            <a:ext cx="4389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569464" y="4462272"/>
            <a:ext cx="4315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Empty fields → validation error shown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903720" y="4462272"/>
            <a:ext cx="822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958584" y="4462272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Fail*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320040" y="480060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* TC-02 and TC-07 are known issues — input validation not yet implemented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896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91440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8016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402336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4416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131673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Current Limitations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737360"/>
            <a:ext cx="3749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</a:rPr>
              <a:t>No online payment — cash only at collection point</a:t>
            </a:r>
            <a:endParaRPr lang="en-US" sz="1100" b="1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</a:rPr>
              <a:t>Notifications are on-screen only (no SMS or email)</a:t>
            </a:r>
            <a:endParaRPr lang="en-US" sz="1100" b="1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</a:rPr>
              <a:t>Local network deployment — not accessible outside campus</a:t>
            </a:r>
            <a:endParaRPr lang="en-US" sz="1100" b="1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</a:rPr>
              <a:t>No inventory or stock management module</a:t>
            </a:r>
            <a:endParaRPr lang="en-US" sz="1100" b="1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</a:rPr>
              <a:t>Reporting limited to basic daily order counts</a:t>
            </a:r>
            <a:endParaRPr lang="en-US" sz="1100" b="1" dirty="0"/>
          </a:p>
        </p:txBody>
      </p:sp>
      <p:sp>
        <p:nvSpPr>
          <p:cNvPr id="11" name="Shape 8"/>
          <p:cNvSpPr/>
          <p:nvPr/>
        </p:nvSpPr>
        <p:spPr>
          <a:xfrm>
            <a:off x="4572000" y="1280160"/>
            <a:ext cx="42519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1280160"/>
            <a:ext cx="425196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134416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01768" y="13167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Future Recommendations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09160" y="1737360"/>
            <a:ext cx="39776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</a:rPr>
              <a:t>Integrate online payment gateway (JazzCash / EasyPaisa)</a:t>
            </a:r>
            <a:endParaRPr lang="en-US" sz="1100" b="1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</a:rPr>
              <a:t>Add SMS and email notification support</a:t>
            </a:r>
            <a:endParaRPr lang="en-US" sz="1100" b="1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</a:rPr>
              <a:t>Migrate to cloud hosting for campus-wide access</a:t>
            </a:r>
            <a:endParaRPr lang="en-US" sz="1100" b="1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</a:rPr>
              <a:t>Build a dedicated mobile application (iOS &amp; Android)</a:t>
            </a:r>
            <a:endParaRPr lang="en-US" sz="1100" b="1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</a:rPr>
              <a:t>Add inventory and stock management module</a:t>
            </a:r>
            <a:endParaRPr lang="en-US" sz="1100" b="1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</a:rPr>
              <a:t>Implement advanced analytics and trend reports</a:t>
            </a:r>
            <a:endParaRPr lang="en-US" sz="1100" b="1" dirty="0"/>
          </a:p>
        </p:txBody>
      </p:sp>
      <p:sp>
        <p:nvSpPr>
          <p:cNvPr id="16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896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91440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850392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C896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0C896"/>
                </a:solidFill>
              </a:rPr>
              <a:t>"We digitized the canteen queue using a token-based web system built on three-tier layered architecture."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057400"/>
            <a:ext cx="1572768" cy="26974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057400"/>
            <a:ext cx="157276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212848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93192" y="278892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Problem Solved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93192" y="3145536"/>
            <a:ext cx="14264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Eliminated physical queuing and order miscommunication</a:t>
            </a:r>
          </a:p>
        </p:txBody>
      </p:sp>
      <p:sp>
        <p:nvSpPr>
          <p:cNvPr id="13" name="Shape 10"/>
          <p:cNvSpPr/>
          <p:nvPr/>
        </p:nvSpPr>
        <p:spPr>
          <a:xfrm>
            <a:off x="2039112" y="2057400"/>
            <a:ext cx="1572768" cy="26974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A6EBD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039112" y="2057400"/>
            <a:ext cx="1572768" cy="54864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2212848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12264" y="278892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EBD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112264" y="3145536"/>
            <a:ext cx="14264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Three-tier layered design — Presentation, Logic, Data</a:t>
            </a:r>
          </a:p>
        </p:txBody>
      </p:sp>
      <p:sp>
        <p:nvSpPr>
          <p:cNvPr id="18" name="Shape 14"/>
          <p:cNvSpPr/>
          <p:nvPr/>
        </p:nvSpPr>
        <p:spPr>
          <a:xfrm>
            <a:off x="3758184" y="2057400"/>
            <a:ext cx="1572768" cy="26974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758184" y="2057400"/>
            <a:ext cx="157276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2212848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831336" y="278892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Patterns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831336" y="3145536"/>
            <a:ext cx="14264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Singleton, Factory, and Observer patterns applied</a:t>
            </a:r>
          </a:p>
        </p:txBody>
      </p:sp>
      <p:sp>
        <p:nvSpPr>
          <p:cNvPr id="23" name="Shape 18"/>
          <p:cNvSpPr/>
          <p:nvPr/>
        </p:nvSpPr>
        <p:spPr>
          <a:xfrm>
            <a:off x="5477256" y="2057400"/>
            <a:ext cx="1572768" cy="26974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77256" y="2057400"/>
            <a:ext cx="157276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2212848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50408" y="278892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Prototype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550408" y="3145536"/>
            <a:ext cx="14264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Working system covering all core functional requirements</a:t>
            </a:r>
          </a:p>
        </p:txBody>
      </p:sp>
      <p:sp>
        <p:nvSpPr>
          <p:cNvPr id="28" name="Shape 22"/>
          <p:cNvSpPr/>
          <p:nvPr/>
        </p:nvSpPr>
        <p:spPr>
          <a:xfrm>
            <a:off x="7196328" y="2057400"/>
            <a:ext cx="1572768" cy="26974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C89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196328" y="2057400"/>
            <a:ext cx="1572768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4112" y="2212848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69480" y="278892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</a:rPr>
              <a:t>Testing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7269480" y="3145536"/>
            <a:ext cx="14264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5 test types · 7 test cases · 5 passing</a:t>
            </a:r>
          </a:p>
        </p:txBody>
      </p:sp>
      <p:sp>
        <p:nvSpPr>
          <p:cNvPr id="33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0C896">
              <a:alpha val="12000"/>
            </a:srgbClr>
          </a:solidFill>
          <a:ln w="12700">
            <a:solidFill>
              <a:srgbClr val="00C89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A6EBD">
              <a:alpha val="15000"/>
            </a:srgbClr>
          </a:solidFill>
          <a:ln w="12700">
            <a:solidFill>
              <a:srgbClr val="1A6EBD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800" dirty="0"/>
          </a:p>
        </p:txBody>
      </p:sp>
      <p:sp>
        <p:nvSpPr>
          <p:cNvPr id="5" name="Shape 3"/>
          <p:cNvSpPr/>
          <p:nvPr/>
        </p:nvSpPr>
        <p:spPr>
          <a:xfrm>
            <a:off x="3200400" y="1874520"/>
            <a:ext cx="27432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933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i="1" dirty="0">
                <a:solidFill>
                  <a:srgbClr val="00C896"/>
                </a:solidFill>
              </a:rPr>
              <a:t>Questions Welcome</a:t>
            </a:r>
            <a:endParaRPr lang="en-US" sz="4000" b="1" dirty="0"/>
          </a:p>
        </p:txBody>
      </p:sp>
      <p:sp>
        <p:nvSpPr>
          <p:cNvPr id="8" name="Text 6"/>
          <p:cNvSpPr/>
          <p:nvPr/>
        </p:nvSpPr>
        <p:spPr>
          <a:xfrm>
            <a:off x="594360" y="26700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962656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0B4C8"/>
                </a:solidFill>
              </a:rPr>
              <a:t>Submitted to: Sir Babar Sheikh  ·  Dept. of Computer Science  ·  Sukkur IBA University  ·  April 2026</a:t>
            </a:r>
            <a:endParaRPr lang="en-US" sz="1400" b="1" dirty="0"/>
          </a:p>
        </p:txBody>
      </p:sp>
      <p:sp>
        <p:nvSpPr>
          <p:cNvPr id="12" name="Text 10"/>
          <p:cNvSpPr/>
          <p:nvPr/>
        </p:nvSpPr>
        <p:spPr>
          <a:xfrm>
            <a:off x="548640" y="448970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1507</Words>
  <Application>Microsoft Office PowerPoint</Application>
  <PresentationFormat>On-screen Show (16:9)</PresentationFormat>
  <Paragraphs>335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Canteen Token &amp; Order Queue System</dc:title>
  <dc:subject>PptxGenJS Presentation</dc:subject>
  <dc:creator>PptxGenJS</dc:creator>
  <cp:lastModifiedBy>Noman Traders</cp:lastModifiedBy>
  <cp:revision>6</cp:revision>
  <dcterms:created xsi:type="dcterms:W3CDTF">2026-04-26T17:45:59Z</dcterms:created>
  <dcterms:modified xsi:type="dcterms:W3CDTF">2026-04-26T19:57:57Z</dcterms:modified>
</cp:coreProperties>
</file>